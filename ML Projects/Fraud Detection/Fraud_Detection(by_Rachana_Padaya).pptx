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HVYdBhryFhpbI40FRpD8X17xF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Hello, good afternoon, my name is Rachana padaya. Today I am presenting my data science project for airline inducsrt. In which I h</a:t>
            </a:r>
            <a:endParaRPr/>
          </a:p>
        </p:txBody>
      </p:sp>
      <p:sp>
        <p:nvSpPr>
          <p:cNvPr id="140" name="Google Shape;14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3933c1a2e_0_155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73933c1a2e_0_155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g373933c1a2e_0_15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73933c1a2e_0_15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73933c1a2e_0_1554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9" name="Google Shape;19;g373933c1a2e_0_1554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g373933c1a2e_0_155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73933c1a2e_0_156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3" name="Google Shape;23;g373933c1a2e_0_156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73933c1a2e_0_156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73933c1a2e_0_1562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73933c1a2e_0_156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73933c1a2e_0_1568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73933c1a2e_0_1568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g373933c1a2e_0_156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73933c1a2e_0_156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73933c1a2e_0_1568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3" name="Google Shape;33;g373933c1a2e_0_1568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4" name="Google Shape;34;g373933c1a2e_0_156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3933c1a2e_0_157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73933c1a2e_0_157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8" name="Google Shape;38;g373933c1a2e_0_157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73933c1a2e_0_15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73933c1a2e_0_157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1" name="Google Shape;41;g373933c1a2e_0_1576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2" name="Google Shape;42;g373933c1a2e_0_1576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g373933c1a2e_0_157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3933c1a2e_0_158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73933c1a2e_0_158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7" name="Google Shape;47;g373933c1a2e_0_158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73933c1a2e_0_158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73933c1a2e_0_158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g373933c1a2e_0_158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3933c1a2e_0_159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73933c1a2e_0_159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4" name="Google Shape;54;g373933c1a2e_0_159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73933c1a2e_0_159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73933c1a2e_0_1592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7" name="Google Shape;57;g373933c1a2e_0_1592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g373933c1a2e_0_159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73933c1a2e_0_1600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61" name="Google Shape;61;g373933c1a2e_0_160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73933c1a2e_0_160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73933c1a2e_0_1600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73933c1a2e_0_160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3933c1a2e_0_160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73933c1a2e_0_160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8" name="Google Shape;68;g373933c1a2e_0_160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73933c1a2e_0_160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73933c1a2e_0_1606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g373933c1a2e_0_1606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g373933c1a2e_0_1606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3" name="Google Shape;73;g373933c1a2e_0_160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3933c1a2e_0_1615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6" name="Google Shape;76;g373933c1a2e_0_161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73933c1a2e_0_161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9" name="Google Shape;79;g373933c1a2e_0_16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73933c1a2e_0_16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73933c1a2e_0_1618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73933c1a2e_0_1618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73933c1a2e_0_161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3933c1a2e_0_162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3933c1a2e_0_1627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73933c1a2e_0_1627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73933c1a2e_0_1627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73933c1a2e_0_1627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g373933c1a2e_0_1627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g373933c1a2e_0_162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73933c1a2e_0_162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73933c1a2e_0_162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933c1a2e_0_1636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73933c1a2e_0_1636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g373933c1a2e_0_163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73933c1a2e_0_163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73933c1a2e_0_163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3933c1a2e_0_164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73933c1a2e_0_1642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4" name="Google Shape;104;g373933c1a2e_0_1642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5" name="Google Shape;105;g373933c1a2e_0_164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73933c1a2e_0_164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73933c1a2e_0_164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3933c1a2e_0_1649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73933c1a2e_0_1649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3933c1a2e_0_164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73933c1a2e_0_1649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3" name="Google Shape;113;g373933c1a2e_0_1649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4" name="Google Shape;114;g373933c1a2e_0_1649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73933c1a2e_0_1649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73933c1a2e_0_164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3933c1a2e_0_1658"/>
          <p:cNvSpPr txBox="1"/>
          <p:nvPr>
            <p:ph type="title"/>
          </p:nvPr>
        </p:nvSpPr>
        <p:spPr>
          <a:xfrm>
            <a:off x="1154954" y="947920"/>
            <a:ext cx="87615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73933c1a2e_0_1658"/>
          <p:cNvSpPr txBox="1"/>
          <p:nvPr>
            <p:ph idx="1" type="body"/>
          </p:nvPr>
        </p:nvSpPr>
        <p:spPr>
          <a:xfrm>
            <a:off x="1154954" y="2610999"/>
            <a:ext cx="31293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73933c1a2e_0_1658"/>
          <p:cNvSpPr txBox="1"/>
          <p:nvPr>
            <p:ph idx="2" type="body"/>
          </p:nvPr>
        </p:nvSpPr>
        <p:spPr>
          <a:xfrm>
            <a:off x="1154954" y="3187261"/>
            <a:ext cx="31293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g373933c1a2e_0_1658"/>
          <p:cNvSpPr txBox="1"/>
          <p:nvPr>
            <p:ph idx="3" type="body"/>
          </p:nvPr>
        </p:nvSpPr>
        <p:spPr>
          <a:xfrm>
            <a:off x="4512721" y="2610999"/>
            <a:ext cx="3145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g373933c1a2e_0_1658"/>
          <p:cNvSpPr txBox="1"/>
          <p:nvPr>
            <p:ph idx="4" type="body"/>
          </p:nvPr>
        </p:nvSpPr>
        <p:spPr>
          <a:xfrm>
            <a:off x="4512721" y="3187261"/>
            <a:ext cx="31455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3" name="Google Shape;123;g373933c1a2e_0_1658"/>
          <p:cNvSpPr txBox="1"/>
          <p:nvPr>
            <p:ph idx="5" type="body"/>
          </p:nvPr>
        </p:nvSpPr>
        <p:spPr>
          <a:xfrm>
            <a:off x="7886701" y="2603500"/>
            <a:ext cx="31575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g373933c1a2e_0_1658"/>
          <p:cNvSpPr txBox="1"/>
          <p:nvPr>
            <p:ph idx="6" type="body"/>
          </p:nvPr>
        </p:nvSpPr>
        <p:spPr>
          <a:xfrm>
            <a:off x="7886700" y="3187261"/>
            <a:ext cx="31611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5" name="Google Shape;125;g373933c1a2e_0_165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73933c1a2e_0_165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73933c1a2e_0_165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3933c1a2e_0_1669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73933c1a2e_0_1669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373933c1a2e_0_1669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2" name="Google Shape;132;g373933c1a2e_0_1669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3" name="Google Shape;133;g373933c1a2e_0_1669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4" name="Google Shape;134;g373933c1a2e_0_166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73933c1a2e_0_166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73933c1a2e_0_166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3933c1a2e_0_155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73933c1a2e_0_155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73933c1a2e_0_155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title"/>
          </p:nvPr>
        </p:nvSpPr>
        <p:spPr>
          <a:xfrm>
            <a:off x="372103" y="5243014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/>
              <a:t>Fraud Detection</a:t>
            </a:r>
            <a:endParaRPr sz="5400"/>
          </a:p>
        </p:txBody>
      </p:sp>
      <p:sp>
        <p:nvSpPr>
          <p:cNvPr id="143" name="Google Shape;143;p1"/>
          <p:cNvSpPr txBox="1"/>
          <p:nvPr>
            <p:ph idx="1" type="body"/>
          </p:nvPr>
        </p:nvSpPr>
        <p:spPr>
          <a:xfrm>
            <a:off x="1039368" y="6393912"/>
            <a:ext cx="11003696" cy="37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 fontScale="85000"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u="sng"/>
              <a:t>BY: Rachana Padaya</a:t>
            </a:r>
            <a:endParaRPr u="sng"/>
          </a:p>
          <a:p>
            <a:pPr indent="0" lvl="0" marL="0" rtl="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Announcing Cloudflare Fraud Detection." id="144" name="Google Shape;144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184" l="0" r="0" t="14185"/>
          <a:stretch/>
        </p:blipFill>
        <p:spPr>
          <a:xfrm>
            <a:off x="0" y="-124"/>
            <a:ext cx="12192000" cy="49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1226503" y="1938482"/>
            <a:ext cx="10043400" cy="3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US" sz="1700"/>
              <a:t>Empowering Financial Security:</a:t>
            </a:r>
            <a:r>
              <a:rPr lang="en-US" sz="1700"/>
              <a:t> Detecting Fraudulent Transactions using Advanced Machine Learning Techniques and Predictive Analytics.</a:t>
            </a:r>
            <a:endParaRPr sz="17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/>
              <a:t>Develop a machine learning model to detect potentially fraudulent transactions based on the provided features. The dataset contains information about various transactions, including account age, payment method, time of transaction, and category.</a:t>
            </a:r>
            <a:endParaRPr sz="1700"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br>
              <a:rPr lang="en-US" sz="1800"/>
            </a:br>
            <a:endParaRPr b="0" i="0" sz="1700" u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 sz="25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sz="25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700"/>
              <a:t>The goal is to build a classification model that can accurately classify transactions as either legitimate or potentially fraudulent.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 Overview</a:t>
            </a:r>
            <a:endParaRPr/>
          </a:p>
        </p:txBody>
      </p:sp>
      <p:sp>
        <p:nvSpPr>
          <p:cNvPr id="156" name="Google Shape;156;p3"/>
          <p:cNvSpPr txBox="1"/>
          <p:nvPr>
            <p:ph idx="1" type="body"/>
          </p:nvPr>
        </p:nvSpPr>
        <p:spPr>
          <a:xfrm>
            <a:off x="1097280" y="1923802"/>
            <a:ext cx="10058400" cy="4381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079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Dataset Size: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Rows: 39,221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Columns: </a:t>
            </a:r>
            <a:r>
              <a:rPr lang="en-US" sz="1700"/>
              <a:t>8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Independent Features: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accountAgeDays, numItems, localTime, paymentMethod, paymentMethodAgedays, Category, isWeekend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Target/Dependent Feature: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labe</a:t>
            </a:r>
            <a:r>
              <a:rPr lang="en-US" sz="1700"/>
              <a:t>l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Categorical Features: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5 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Numerical Features: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3 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Missing Values: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 Out of all the columns — </a:t>
            </a:r>
            <a:r>
              <a:rPr i="1" lang="en-US" sz="1700">
                <a:latin typeface="Calibri"/>
                <a:ea typeface="Calibri"/>
                <a:cs typeface="Calibri"/>
                <a:sym typeface="Calibri"/>
              </a:rPr>
              <a:t>Category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i="1" lang="en-US" sz="1700"/>
              <a:t>isWeekend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— the missing values are 95 and 396, respectively.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Duplicate Values: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Dataset have 3033 duplicate data.</a:t>
            </a:r>
            <a:endParaRPr/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Datatype: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All columns have valid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data types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Data Preprocessing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1097280" y="1940011"/>
            <a:ext cx="5240020" cy="4371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079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Handling Duplicate Values: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 I identified and removed duplicate records from the dataset to ensure data quality and maintain the integrity of the analysis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Handling Missing Values: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Since the data does not have many missing values, I used the mode to impute missing values in the categorical features.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Outlier Treatment: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I used the IQR (Interquartile Range) method to treat outliers in the localTime and paymentMethodAgeDays features, ensuring the data distribution remained robust and less skewed by extreme values.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Encoding of Categorical data: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I used one hot encoding for nominal data.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 "/>
            </a:pPr>
            <a:r>
              <a:rPr b="1" lang="en-US" sz="17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 Cleaning: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Drop accountAgeDays </a:t>
            </a: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to prevent data leakage and overfitting, as it clearly separated fraud and legitimate transactions.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>
            <p:ph idx="2" type="body"/>
          </p:nvPr>
        </p:nvSpPr>
        <p:spPr>
          <a:xfrm>
            <a:off x="6571622" y="2019719"/>
            <a:ext cx="4583998" cy="384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4" name="Google Shape;1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7300" y="1869194"/>
            <a:ext cx="5034757" cy="4150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/>
              <a:t>Categorical Features</a:t>
            </a:r>
            <a:endParaRPr/>
          </a:p>
        </p:txBody>
      </p:sp>
      <p:sp>
        <p:nvSpPr>
          <p:cNvPr id="170" name="Google Shape;170;p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/>
              <a:t>Represents categories or labels that are discrete and distinct.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/>
              <a:t>Nominal Data: </a:t>
            </a:r>
            <a:r>
              <a:rPr lang="en-US"/>
              <a:t>paymentMethod, Category and isWeekend are nominal data, it means we should not give order to segregate its classes.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/>
              <a:t>Ordinal Data: </a:t>
            </a:r>
            <a:r>
              <a:rPr lang="en-US"/>
              <a:t>numItems column is ordinal data, it means it has some order to its classes.</a:t>
            </a:r>
            <a:endParaRPr/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966" y="307159"/>
            <a:ext cx="7541872" cy="6243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/>
              <a:t>Numerical Features</a:t>
            </a:r>
            <a:endParaRPr/>
          </a:p>
        </p:txBody>
      </p:sp>
      <p:sp>
        <p:nvSpPr>
          <p:cNvPr id="179" name="Google Shape;179;p6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/>
              <a:t>Represents measurable quantities with a logical order.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/>
              <a:t>Continuous:</a:t>
            </a:r>
            <a:r>
              <a:rPr lang="en-US"/>
              <a:t> Can take any value within a range (e.g., height, weight, temperature).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/>
              <a:t>Discrete:</a:t>
            </a:r>
            <a:r>
              <a:rPr lang="en-US"/>
              <a:t> Countable values (e.g., number of students, page visits).</a:t>
            </a:r>
            <a:endParaRPr/>
          </a:p>
        </p:txBody>
      </p:sp>
      <p:sp>
        <p:nvSpPr>
          <p:cNvPr id="180" name="Google Shape;180;p6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5744" y="2199625"/>
            <a:ext cx="7602011" cy="465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5744" y="0"/>
            <a:ext cx="7582958" cy="2238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/>
              <a:t>Target Variable Analysis</a:t>
            </a:r>
            <a:endParaRPr/>
          </a:p>
        </p:txBody>
      </p:sp>
      <p:sp>
        <p:nvSpPr>
          <p:cNvPr id="188" name="Google Shape;188;p7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/>
              <a:t>label is our Target Column.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/>
              <a:t>As target column has two outputs, it is binary classification problem.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/>
              <a:t>Data distribution is 98.9-1.09%.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/>
              <a:t>Can not apply </a:t>
            </a:r>
            <a:r>
              <a:rPr lang="en-US"/>
              <a:t>upsampling</a:t>
            </a:r>
            <a:r>
              <a:rPr lang="en-US"/>
              <a:t> / </a:t>
            </a:r>
            <a:r>
              <a:rPr lang="en-US"/>
              <a:t>downsampling</a:t>
            </a:r>
            <a:r>
              <a:rPr lang="en-US"/>
              <a:t> as imbalance is very high with less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9578" y="1452575"/>
            <a:ext cx="6525156" cy="4976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Model Selection</a:t>
            </a:r>
            <a:endParaRPr/>
          </a:p>
        </p:txBody>
      </p:sp>
      <p:sp>
        <p:nvSpPr>
          <p:cNvPr id="195" name="Google Shape;195;p8"/>
          <p:cNvSpPr txBox="1"/>
          <p:nvPr>
            <p:ph idx="4294967295" type="body"/>
          </p:nvPr>
        </p:nvSpPr>
        <p:spPr>
          <a:xfrm>
            <a:off x="1097275" y="1864543"/>
            <a:ext cx="54873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984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/>
              <a:t>Decision Tree Classifier</a:t>
            </a:r>
            <a:endParaRPr sz="2000"/>
          </a:p>
          <a:p>
            <a:pPr indent="-2984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/>
              <a:t>Random Forest Classifier (Ensemble)</a:t>
            </a:r>
            <a:endParaRPr sz="2000"/>
          </a:p>
          <a:p>
            <a:pPr indent="-29845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/>
              <a:t>Voting Classifier (Ensemble)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7780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800"/>
          </a:p>
          <a:p>
            <a:pPr indent="-17780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800"/>
          </a:p>
          <a:p>
            <a:pPr indent="-17780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/>
          </a:p>
          <a:p>
            <a:pPr indent="-177800" lvl="0" marL="2857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Font typeface="Arial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</p:txBody>
      </p:sp>
      <p:sp>
        <p:nvSpPr>
          <p:cNvPr id="196" name="Google Shape;196;p8"/>
          <p:cNvSpPr txBox="1"/>
          <p:nvPr>
            <p:ph idx="2" type="body"/>
          </p:nvPr>
        </p:nvSpPr>
        <p:spPr>
          <a:xfrm>
            <a:off x="6217925" y="1845730"/>
            <a:ext cx="4937700" cy="1918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98450" lvl="0" marL="285750" rtl="0" algn="l"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/>
              <a:t>Gradient Boosting Classifier</a:t>
            </a:r>
            <a:endParaRPr sz="1900"/>
          </a:p>
          <a:p>
            <a:pPr indent="-298450" lvl="0" marL="285750" rtl="0" algn="l"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/>
              <a:t>Logistic Regression</a:t>
            </a:r>
            <a:endParaRPr sz="1900"/>
          </a:p>
          <a:p>
            <a:pPr indent="-298450" lvl="0" marL="285750" rtl="0" algn="l"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/>
              <a:t>SVC (Support Vector Classifier)</a:t>
            </a:r>
            <a:endParaRPr sz="1900"/>
          </a:p>
        </p:txBody>
      </p:sp>
      <p:pic>
        <p:nvPicPr>
          <p:cNvPr id="197" name="Google Shape;1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975" y="3417750"/>
            <a:ext cx="7452047" cy="31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Model Performance Comparison</a:t>
            </a:r>
            <a:endParaRPr/>
          </a:p>
        </p:txBody>
      </p:sp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04" y="1879042"/>
            <a:ext cx="9686552" cy="4344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Feature Importance</a:t>
            </a:r>
            <a:endParaRPr/>
          </a:p>
        </p:txBody>
      </p:sp>
      <p:sp>
        <p:nvSpPr>
          <p:cNvPr id="209" name="Google Shape;209;p10"/>
          <p:cNvSpPr txBox="1"/>
          <p:nvPr>
            <p:ph idx="1" type="body"/>
          </p:nvPr>
        </p:nvSpPr>
        <p:spPr>
          <a:xfrm>
            <a:off x="1066800" y="1737360"/>
            <a:ext cx="10058400" cy="600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US" sz="17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Out of </a:t>
            </a:r>
            <a:r>
              <a:rPr b="1" lang="en-US" sz="1700">
                <a:solidFill>
                  <a:schemeClr val="accent1"/>
                </a:solidFill>
              </a:rPr>
              <a:t>8</a:t>
            </a:r>
            <a:r>
              <a:rPr b="1" lang="en-US" sz="17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features 3 of features have 91.6% importance to predict target value.</a:t>
            </a:r>
            <a:endParaRPr/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488" y="2254897"/>
            <a:ext cx="9911024" cy="398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Model Performance of LightGBM Classifier</a:t>
            </a:r>
            <a:endParaRPr/>
          </a:p>
        </p:txBody>
      </p:sp>
      <p:sp>
        <p:nvSpPr>
          <p:cNvPr id="216" name="Google Shape;216;p11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CONFUSION MATRIX</a:t>
            </a:r>
            <a:endParaRPr/>
          </a:p>
        </p:txBody>
      </p:sp>
      <p:sp>
        <p:nvSpPr>
          <p:cNvPr id="217" name="Google Shape;217;p11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AUC-ROC CURVE</a:t>
            </a:r>
            <a:endParaRPr/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502" y="2715199"/>
            <a:ext cx="4084995" cy="3363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2582334"/>
            <a:ext cx="4376726" cy="3504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25" name="Google Shape;225;p12"/>
          <p:cNvSpPr txBox="1"/>
          <p:nvPr>
            <p:ph idx="1" type="body"/>
          </p:nvPr>
        </p:nvSpPr>
        <p:spPr>
          <a:xfrm>
            <a:off x="1097278" y="1845734"/>
            <a:ext cx="1005839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1049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RandomForestClassifier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outperformed all other models as the best tree-based bagging classifier.</a:t>
            </a:r>
            <a:endParaRPr sz="2000"/>
          </a:p>
          <a:p>
            <a:pPr indent="-11049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After hyperparameter tuning, it showed </a:t>
            </a: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good recall</a:t>
            </a:r>
            <a:r>
              <a:rPr b="1" lang="en-US" sz="2000">
                <a:solidFill>
                  <a:schemeClr val="accent1"/>
                </a:solidFill>
              </a:rPr>
              <a:t> and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low precision</a:t>
            </a:r>
            <a:r>
              <a:rPr b="1" lang="en-US" sz="2000">
                <a:solidFill>
                  <a:schemeClr val="accent1"/>
                </a:solidFill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without overfitting.</a:t>
            </a:r>
            <a:endParaRPr sz="2000"/>
          </a:p>
          <a:p>
            <a:pPr indent="-11049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was prioritized to capture more potential fraudulent transactions, even with some false positives.</a:t>
            </a:r>
            <a:endParaRPr sz="2000"/>
          </a:p>
          <a:p>
            <a:pPr indent="-11049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Model generalized well, with </a:t>
            </a: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close train-test accuracy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/>
          </a:p>
          <a:p>
            <a:pPr indent="-11049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 features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: paymentMethodAgeDays, isWeekend and localTime.</a:t>
            </a:r>
            <a:endParaRPr sz="2000"/>
          </a:p>
          <a:p>
            <a:pPr indent="-11049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Achieved an AUC-ROC of </a:t>
            </a:r>
            <a:r>
              <a:rPr lang="en-US" sz="2000"/>
              <a:t>78.08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%, indicating </a:t>
            </a:r>
            <a:r>
              <a:rPr b="1" lang="en-US" sz="2000">
                <a:solidFill>
                  <a:schemeClr val="accent1"/>
                </a:solidFill>
              </a:rPr>
              <a:t>decent</a:t>
            </a:r>
            <a:r>
              <a:rPr b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class separation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ctrTitle"/>
          </p:nvPr>
        </p:nvSpPr>
        <p:spPr>
          <a:xfrm>
            <a:off x="1154955" y="935951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1154955" y="4572000"/>
            <a:ext cx="99959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Would love to answer any questions you might have.</a:t>
            </a:r>
            <a:endParaRPr b="0" i="0" sz="2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2025-05-07T11:50:36Z</dcterms:created>
  <dc:creator>Rachana Padaya</dc:creator>
</cp:coreProperties>
</file>