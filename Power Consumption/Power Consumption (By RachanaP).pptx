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8" r:id="rId1"/>
  </p:sldMasterIdLst>
  <p:notesMasterIdLst>
    <p:notesMasterId r:id="rId13"/>
  </p:notesMasterIdLst>
  <p:sldIdLst>
    <p:sldId id="278" r:id="rId2"/>
    <p:sldId id="257" r:id="rId3"/>
    <p:sldId id="259" r:id="rId4"/>
    <p:sldId id="260" r:id="rId5"/>
    <p:sldId id="271" r:id="rId6"/>
    <p:sldId id="270" r:id="rId7"/>
    <p:sldId id="268" r:id="rId8"/>
    <p:sldId id="266" r:id="rId9"/>
    <p:sldId id="267" r:id="rId10"/>
    <p:sldId id="277" r:id="rId11"/>
    <p:sldId id="25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0154"/>
    <a:srgbClr val="53C567"/>
    <a:srgbClr val="FDE7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3AB941-86A3-4E77-8058-20BDF71CCA22}" v="39" dt="2025-07-11T11:41:13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D56148-38B1-4B2A-8AAA-D87E95FEEBE2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6C85BE-B6A9-45D3-BDD6-C84876776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88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C85BE-B6A9-45D3-BDD6-C848767767D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513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C85BE-B6A9-45D3-BDD6-C848767767D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138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B3F0-A9BC-48CE-8EB6-ECE965069900}" type="datetimeFigureOut">
              <a:rPr lang="en-US" smtClean="0"/>
              <a:pPr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5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712A-F861-4AB0-A754-4F5A2033CD4B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28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07B7-F2DC-4B2C-B14D-58A9766807A2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14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A483D-5CB4-4842-8F2F-05D5276ACF63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310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CE32E-9DC0-47C8-A657-48F5C3E4A10B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959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5C0D-8C3A-4771-A43D-83937FC700D4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32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3D2D6-FCC2-425A-A4A7-8058E8C01CB1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12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8CF2683-E6E7-4CC3-9EEE-7854DD4F3545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84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320A-89BA-47B2-A525-92E8D10B06E4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0743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2318-CE40-42F6-962A-4C6D6CF697DB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76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6AC1-EB7F-4BEF-90D9-5764B50DAF8A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03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0DC7-7F53-471C-A711-B3DA6F2535F3}" type="datetimeFigureOut">
              <a:rPr lang="en-US" dirty="0"/>
              <a:t>7/11/2025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112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64B320A-89BA-47B2-A525-92E8D10B06E4}" type="datetimeFigureOut">
              <a:rPr lang="en-US" smtClean="0"/>
              <a:t>7/11/2025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012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8070F-7DA2-342A-27C7-8351294B1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03" y="5243014"/>
            <a:ext cx="10113264" cy="822960"/>
          </a:xfrm>
        </p:spPr>
        <p:txBody>
          <a:bodyPr/>
          <a:lstStyle/>
          <a:p>
            <a:r>
              <a:rPr lang="en-IN" dirty="0"/>
              <a:t>power consumption</a:t>
            </a:r>
            <a:br>
              <a:rPr lang="en-IN" sz="5400" dirty="0"/>
            </a:br>
            <a:br>
              <a:rPr lang="en-IN" sz="5400" dirty="0"/>
            </a:br>
            <a:r>
              <a:rPr lang="en-IN" dirty="0"/>
              <a:t>power consumption</a:t>
            </a:r>
            <a:br>
              <a:rPr lang="en-IN" sz="5400" dirty="0"/>
            </a:br>
            <a:br>
              <a:rPr lang="en-IN" sz="5400" dirty="0"/>
            </a:br>
            <a:r>
              <a:rPr lang="en-IN" sz="5400" dirty="0"/>
              <a:t>Power Consumption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65EB8-D716-ECA6-61D0-2C2D659E9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9367" y="6393912"/>
            <a:ext cx="10977041" cy="344818"/>
          </a:xfrm>
        </p:spPr>
        <p:txBody>
          <a:bodyPr/>
          <a:lstStyle/>
          <a:p>
            <a:pPr algn="r"/>
            <a:r>
              <a:rPr lang="en-US" dirty="0"/>
              <a:t>BY: Rachana Padaya</a:t>
            </a:r>
          </a:p>
          <a:p>
            <a:pPr algn="r"/>
            <a:endParaRPr lang="en-IN" dirty="0"/>
          </a:p>
        </p:txBody>
      </p:sp>
      <p:pic>
        <p:nvPicPr>
          <p:cNvPr id="2050" name="Picture 2" descr="What is phantom power consumption and how can it be reduced? | Repsol">
            <a:extLst>
              <a:ext uri="{FF2B5EF4-FFF2-40B4-BE49-F238E27FC236}">
                <a16:creationId xmlns:a16="http://schemas.microsoft.com/office/drawing/2014/main" id="{4A73DBC5-E052-279B-BC96-E11C96CE28EC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r="436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74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D4DD-85DE-E985-4515-5B201BCD6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351EF-6C94-AE1D-C943-FEAAA26EB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365" y="2081876"/>
            <a:ext cx="10043477" cy="350635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latin typeface="+mj-lt"/>
              </a:rPr>
              <a:t>The objective is to develop a machine learning model that can predict the power consumption (Zone 1 Power Consumption) of Wellington, New Zealand based on various environmental and meteorological factors. 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700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2400" b="1" dirty="0">
                <a:solidFill>
                  <a:schemeClr val="accent1"/>
                </a:solidFill>
                <a:latin typeface="+mj-lt"/>
              </a:rPr>
              <a:t>Objective:</a:t>
            </a:r>
          </a:p>
          <a:p>
            <a:pPr fontAlgn="base"/>
            <a:r>
              <a:rPr lang="en-US" sz="1700" dirty="0">
                <a:latin typeface="+mj-lt"/>
              </a:rPr>
              <a:t>Create an accurate predictive model that can assist in managing energy resources efficiently and optimizing power consumption in that zone.</a:t>
            </a:r>
            <a:endParaRPr lang="en-US" sz="1700" dirty="0">
              <a:solidFill>
                <a:srgbClr val="262626"/>
              </a:solidFill>
              <a:latin typeface="+mj-lt"/>
            </a:endParaRPr>
          </a:p>
          <a:p>
            <a:pPr fontAlgn="base"/>
            <a:endParaRPr lang="en-IN" sz="1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0425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731A8-9716-F0FB-4BEE-9DD68665B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8C967-8A4D-275B-FDDA-C87CE7E60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23802"/>
            <a:ext cx="10058400" cy="4381995"/>
          </a:xfrm>
        </p:spPr>
        <p:txBody>
          <a:bodyPr>
            <a:normAutofit/>
          </a:bodyPr>
          <a:lstStyle/>
          <a:p>
            <a:r>
              <a:rPr lang="en-US" sz="1700" b="1" dirty="0">
                <a:solidFill>
                  <a:schemeClr val="accent1"/>
                </a:solidFill>
                <a:latin typeface="+mj-lt"/>
              </a:rPr>
              <a:t>Dataset Size:</a:t>
            </a:r>
            <a:endParaRPr lang="en-US" sz="17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>
                <a:latin typeface="+mj-lt"/>
              </a:rPr>
              <a:t>Rows: 52,584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>
                <a:latin typeface="+mj-lt"/>
              </a:rPr>
              <a:t>Columns: 9</a:t>
            </a:r>
          </a:p>
          <a:p>
            <a:r>
              <a:rPr lang="en-US" sz="1700" b="1" dirty="0">
                <a:solidFill>
                  <a:schemeClr val="accent1"/>
                </a:solidFill>
                <a:latin typeface="+mj-lt"/>
              </a:rPr>
              <a:t>Independent Features:  </a:t>
            </a:r>
            <a:r>
              <a:rPr lang="en-IN" sz="1700" dirty="0">
                <a:latin typeface="+mj-lt"/>
              </a:rPr>
              <a:t>'S_no', 'Temperature', 'Humidity', '</a:t>
            </a:r>
            <a:r>
              <a:rPr lang="en-IN" sz="1700" dirty="0" err="1">
                <a:latin typeface="+mj-lt"/>
              </a:rPr>
              <a:t>Wind_Speed</a:t>
            </a:r>
            <a:r>
              <a:rPr lang="en-IN" sz="1700" dirty="0">
                <a:latin typeface="+mj-lt"/>
              </a:rPr>
              <a:t>’, 'gen_diffuse_flows', '</a:t>
            </a:r>
            <a:r>
              <a:rPr lang="en-IN" sz="1700" dirty="0" err="1">
                <a:latin typeface="+mj-lt"/>
              </a:rPr>
              <a:t>diffuse_flows</a:t>
            </a:r>
            <a:r>
              <a:rPr lang="en-IN" sz="1700" dirty="0">
                <a:latin typeface="+mj-lt"/>
              </a:rPr>
              <a:t>', 'AQI(PM)', 'Cloudiness'</a:t>
            </a:r>
            <a:endParaRPr lang="en-US" sz="1700" dirty="0">
              <a:latin typeface="+mj-lt"/>
            </a:endParaRPr>
          </a:p>
          <a:p>
            <a:r>
              <a:rPr lang="en-US" sz="1700" b="1" dirty="0">
                <a:solidFill>
                  <a:schemeClr val="accent1"/>
                </a:solidFill>
                <a:latin typeface="+mj-lt"/>
              </a:rPr>
              <a:t>Target/Dependent Feature: </a:t>
            </a:r>
            <a:r>
              <a:rPr lang="en-IN" sz="1700" dirty="0">
                <a:latin typeface="+mj-lt"/>
              </a:rPr>
              <a:t>Power_Consumption(A)</a:t>
            </a:r>
            <a:endParaRPr lang="en-US" sz="1700" dirty="0">
              <a:latin typeface="+mj-lt"/>
            </a:endParaRPr>
          </a:p>
          <a:p>
            <a:r>
              <a:rPr lang="en-US" sz="1700" b="1" dirty="0">
                <a:solidFill>
                  <a:schemeClr val="accent1"/>
                </a:solidFill>
                <a:latin typeface="+mj-lt"/>
              </a:rPr>
              <a:t>Categorical Features: </a:t>
            </a:r>
            <a:r>
              <a:rPr lang="en-IN" sz="1700" dirty="0">
                <a:effectLst/>
                <a:latin typeface="+mj-lt"/>
              </a:rPr>
              <a:t>3 </a:t>
            </a:r>
            <a:endParaRPr lang="en-US" sz="1700" dirty="0">
              <a:latin typeface="+mj-lt"/>
            </a:endParaRPr>
          </a:p>
          <a:p>
            <a:r>
              <a:rPr lang="en-US" sz="1700" b="1" dirty="0">
                <a:solidFill>
                  <a:schemeClr val="accent1"/>
                </a:solidFill>
                <a:latin typeface="+mj-lt"/>
              </a:rPr>
              <a:t>Numerical Features:</a:t>
            </a:r>
            <a:r>
              <a:rPr lang="en-IN" sz="1700" dirty="0">
                <a:effectLst/>
                <a:latin typeface="+mj-lt"/>
              </a:rPr>
              <a:t> 6</a:t>
            </a:r>
          </a:p>
          <a:p>
            <a:r>
              <a:rPr lang="en-US" sz="1700" b="1" dirty="0">
                <a:solidFill>
                  <a:schemeClr val="accent1"/>
                </a:solidFill>
                <a:latin typeface="+mj-lt"/>
              </a:rPr>
              <a:t>Missing Values:</a:t>
            </a:r>
            <a:r>
              <a:rPr lang="en-US" sz="1700" dirty="0">
                <a:latin typeface="+mj-lt"/>
              </a:rPr>
              <a:t>  Data have total of </a:t>
            </a:r>
            <a:r>
              <a:rPr lang="en-US" sz="1700" b="1" dirty="0">
                <a:latin typeface="+mj-lt"/>
              </a:rPr>
              <a:t>1.45%</a:t>
            </a:r>
            <a:r>
              <a:rPr lang="en-US" sz="1700" dirty="0">
                <a:latin typeface="+mj-lt"/>
              </a:rPr>
              <a:t> missing data.</a:t>
            </a:r>
          </a:p>
          <a:p>
            <a:r>
              <a:rPr lang="en-US" sz="1700" b="1" dirty="0">
                <a:solidFill>
                  <a:schemeClr val="accent1"/>
                </a:solidFill>
                <a:latin typeface="+mj-lt"/>
              </a:rPr>
              <a:t>Duplicate Values: </a:t>
            </a:r>
            <a:r>
              <a:rPr lang="en-US" sz="1700" dirty="0">
                <a:latin typeface="+mj-lt"/>
              </a:rPr>
              <a:t>Dataset does not have any duplicate data.</a:t>
            </a:r>
          </a:p>
          <a:p>
            <a:r>
              <a:rPr lang="en-US" sz="1700" b="1" dirty="0">
                <a:solidFill>
                  <a:schemeClr val="accent1"/>
                </a:solidFill>
                <a:latin typeface="+mj-lt"/>
              </a:rPr>
              <a:t>Datatype: </a:t>
            </a:r>
            <a:r>
              <a:rPr lang="en-IN" sz="1700" dirty="0">
                <a:effectLst/>
                <a:latin typeface="+mj-lt"/>
              </a:rPr>
              <a:t>Out of all columns, </a:t>
            </a:r>
            <a:r>
              <a:rPr lang="en-US" sz="1700" b="1" dirty="0">
                <a:latin typeface="+mj-lt"/>
              </a:rPr>
              <a:t>Temperature</a:t>
            </a:r>
            <a:r>
              <a:rPr lang="en-US" sz="1700" dirty="0">
                <a:latin typeface="+mj-lt"/>
              </a:rPr>
              <a:t> and </a:t>
            </a:r>
            <a:r>
              <a:rPr lang="en-US" sz="1700" b="1" dirty="0">
                <a:latin typeface="+mj-lt"/>
              </a:rPr>
              <a:t>Humidity</a:t>
            </a:r>
            <a:r>
              <a:rPr lang="en-US" sz="1700" dirty="0">
                <a:latin typeface="+mj-lt"/>
              </a:rPr>
              <a:t> have mismatch datatypes</a:t>
            </a:r>
            <a:r>
              <a:rPr lang="en-IN" sz="1700" dirty="0">
                <a:effectLst/>
                <a:latin typeface="+mj-lt"/>
              </a:rPr>
              <a:t>.</a:t>
            </a:r>
            <a:endParaRPr lang="en-US" sz="1700" dirty="0">
              <a:latin typeface="+mj-lt"/>
            </a:endParaRPr>
          </a:p>
          <a:p>
            <a:endParaRPr lang="en-IN" sz="1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01974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212C-621D-7201-7AE4-83E0C2F1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CE710-3A87-0444-268E-0187A3C92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1940011"/>
            <a:ext cx="2828677" cy="4132798"/>
          </a:xfrm>
        </p:spPr>
        <p:txBody>
          <a:bodyPr>
            <a:normAutofit/>
          </a:bodyPr>
          <a:lstStyle/>
          <a:p>
            <a:r>
              <a:rPr lang="en-US" sz="1700" b="1" dirty="0">
                <a:solidFill>
                  <a:schemeClr val="accent1"/>
                </a:solidFill>
                <a:latin typeface="+mj-lt"/>
              </a:rPr>
              <a:t>Handling Missing Values: </a:t>
            </a:r>
            <a:r>
              <a:rPr lang="en-US" sz="1700" dirty="0">
                <a:latin typeface="+mj-lt"/>
              </a:rPr>
              <a:t>Dropped 440 records because of 1.45% missing data. </a:t>
            </a:r>
          </a:p>
          <a:p>
            <a:r>
              <a:rPr lang="en-US" sz="1700" b="1" dirty="0">
                <a:solidFill>
                  <a:schemeClr val="accent1"/>
                </a:solidFill>
                <a:latin typeface="+mj-lt"/>
              </a:rPr>
              <a:t>Outlier Treatment: </a:t>
            </a:r>
            <a:r>
              <a:rPr lang="en-US" sz="1700" dirty="0">
                <a:latin typeface="+mj-lt"/>
              </a:rPr>
              <a:t>Used IQR method for outlier treatment on Temperature, Humidity, gen_diffuse_flows and diffuse_flows features.</a:t>
            </a:r>
          </a:p>
          <a:p>
            <a:r>
              <a:rPr lang="en-US" sz="1700" b="1" dirty="0">
                <a:solidFill>
                  <a:schemeClr val="accent1"/>
                </a:solidFill>
                <a:latin typeface="+mj-lt"/>
              </a:rPr>
              <a:t>Encoding of Categorical data: </a:t>
            </a:r>
            <a:r>
              <a:rPr lang="en-US" sz="1700" dirty="0">
                <a:latin typeface="+mj-lt"/>
              </a:rPr>
              <a:t>No encoding needed. </a:t>
            </a:r>
          </a:p>
          <a:p>
            <a:r>
              <a:rPr lang="en-US" sz="1700" b="1" dirty="0">
                <a:solidFill>
                  <a:schemeClr val="accent1"/>
                </a:solidFill>
                <a:latin typeface="+mj-lt"/>
              </a:rPr>
              <a:t>Data Cleaning: </a:t>
            </a:r>
            <a:r>
              <a:rPr lang="en-US" sz="1700" dirty="0">
                <a:latin typeface="+mj-lt"/>
              </a:rPr>
              <a:t>Dropped the S_no and Cloudiness columns.</a:t>
            </a:r>
            <a:endParaRPr lang="en-IN" sz="1700" dirty="0">
              <a:latin typeface="+mj-l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84CB72-9579-4DF4-ACA5-69A27F27F9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997575" y="1940011"/>
            <a:ext cx="7355217" cy="3697745"/>
          </a:xfrm>
        </p:spPr>
      </p:pic>
    </p:spTree>
    <p:extLst>
      <p:ext uri="{BB962C8B-B14F-4D97-AF65-F5344CB8AC3E}">
        <p14:creationId xmlns:p14="http://schemas.microsoft.com/office/powerpoint/2010/main" val="606886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96F1-76A9-9F4F-7F78-5B4A2A36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316B-63DD-0D06-593E-430AFF8FF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Features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0066D-C9B6-7E8A-C86F-1A773F4BB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Represents categories or labels that are discrete and distinct.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Nominal Data: </a:t>
            </a:r>
            <a:r>
              <a:rPr lang="en-US" dirty="0"/>
              <a:t>Gender, Customer Type and Type of Travels are nominal data, it means we should not give order to segregate its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Ordinal Data: </a:t>
            </a:r>
            <a:r>
              <a:rPr lang="en-US" dirty="0"/>
              <a:t>Class column is ordinal data, it means it has some order to its classes.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A59ABDD-B1CD-4E9B-6969-FC2E691B3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9626" y="404357"/>
            <a:ext cx="6182139" cy="6049286"/>
          </a:xfrm>
        </p:spPr>
      </p:pic>
    </p:spTree>
    <p:extLst>
      <p:ext uri="{BB962C8B-B14F-4D97-AF65-F5344CB8AC3E}">
        <p14:creationId xmlns:p14="http://schemas.microsoft.com/office/powerpoint/2010/main" val="2001765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4208-35DE-0260-A4E5-278F8D14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Features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B3524-3BC5-35F8-47B1-B9E19D19B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Represents measurable quantities with a logical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Continuous:</a:t>
            </a:r>
            <a:r>
              <a:rPr lang="en-US" dirty="0"/>
              <a:t> Can take any value within a range (e.g., height, weight, temperature).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Discrete:</a:t>
            </a:r>
            <a:r>
              <a:rPr lang="en-US" dirty="0"/>
              <a:t> Countable values (e.g., number of students, page visits).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5E8FA7A-CCEA-18C9-0948-A93084375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65429" y="1388199"/>
            <a:ext cx="7671142" cy="4081602"/>
          </a:xfrm>
        </p:spPr>
      </p:pic>
    </p:spTree>
    <p:extLst>
      <p:ext uri="{BB962C8B-B14F-4D97-AF65-F5344CB8AC3E}">
        <p14:creationId xmlns:p14="http://schemas.microsoft.com/office/powerpoint/2010/main" val="2287044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6FC8F-D914-3572-B688-CF52B21A6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Variable analysis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B01FA7-44E5-C61B-9617-5B18A3A62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065228"/>
            <a:ext cx="3200400" cy="337912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Power_Consumpion(A) is our Target Column.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 column does not have any outliers.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 Column </a:t>
            </a:r>
            <a:r>
              <a:rPr lang="en-US" dirty="0" err="1"/>
              <a:t>datas</a:t>
            </a:r>
            <a:r>
              <a:rPr lang="en-US" dirty="0"/>
              <a:t> are normally distributed. </a:t>
            </a:r>
            <a:endParaRPr lang="en-IN" dirty="0"/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E7EAD00-980E-2719-B6AD-9AEF16E1C5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6174" y="2103582"/>
            <a:ext cx="7188626" cy="2456872"/>
          </a:xfrm>
        </p:spPr>
      </p:pic>
    </p:spTree>
    <p:extLst>
      <p:ext uri="{BB962C8B-B14F-4D97-AF65-F5344CB8AC3E}">
        <p14:creationId xmlns:p14="http://schemas.microsoft.com/office/powerpoint/2010/main" val="3216959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8DA2C-58CD-6DA4-2AE1-9802A03B0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44EE67-A5D7-8777-A745-B877063658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154954" y="2241447"/>
            <a:ext cx="3469283" cy="576262"/>
          </a:xfrm>
        </p:spPr>
        <p:txBody>
          <a:bodyPr/>
          <a:lstStyle/>
          <a:p>
            <a:r>
              <a:rPr lang="en-US" dirty="0"/>
              <a:t>Tree-Based Models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68F5D2-2124-D1EA-9AC1-F526D73E0B3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1154954" y="3093174"/>
            <a:ext cx="3361910" cy="177568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Decision Tree Regressor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Random Forest Regressor (Ensemble)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XGBoost Regressor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Voting Regressor (Ensemble)</a:t>
            </a:r>
            <a:endParaRPr lang="en-IN" sz="1700" dirty="0"/>
          </a:p>
          <a:p>
            <a:endParaRPr lang="en-IN" sz="17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06FD61-B8C5-DF98-FB72-31C5A437B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16864" y="2227158"/>
            <a:ext cx="2705100" cy="576261"/>
          </a:xfrm>
        </p:spPr>
        <p:txBody>
          <a:bodyPr/>
          <a:lstStyle/>
          <a:p>
            <a:r>
              <a:rPr lang="en-US" dirty="0"/>
              <a:t>Linear Models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BE5256-DFFA-0E3F-5B37-2B6C23CCF4AB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516864" y="3093174"/>
            <a:ext cx="2944092" cy="179822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OLS (Least Ordinary Squared)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Ridge (L2 Penalty)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Lasso (L1 Penalty)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Linear Regressor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AB1C665-249E-5C58-7045-F1211F811C97}"/>
              </a:ext>
            </a:extLst>
          </p:cNvPr>
          <p:cNvSpPr txBox="1">
            <a:spLocks/>
          </p:cNvSpPr>
          <p:nvPr/>
        </p:nvSpPr>
        <p:spPr>
          <a:xfrm>
            <a:off x="7841579" y="2227157"/>
            <a:ext cx="2533772" cy="57626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Other Models</a:t>
            </a:r>
            <a:endParaRPr lang="en-IN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1001338-48E7-93F5-8768-768923182EA3}"/>
              </a:ext>
            </a:extLst>
          </p:cNvPr>
          <p:cNvSpPr txBox="1">
            <a:spLocks/>
          </p:cNvSpPr>
          <p:nvPr/>
        </p:nvSpPr>
        <p:spPr>
          <a:xfrm>
            <a:off x="1154955" y="2241447"/>
            <a:ext cx="3361910" cy="57626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Tree-Based Models</a:t>
            </a:r>
            <a:endParaRPr lang="en-IN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7F66367-4FEE-516F-7484-C88BDA141816}"/>
              </a:ext>
            </a:extLst>
          </p:cNvPr>
          <p:cNvSpPr txBox="1">
            <a:spLocks/>
          </p:cNvSpPr>
          <p:nvPr/>
        </p:nvSpPr>
        <p:spPr>
          <a:xfrm>
            <a:off x="7841015" y="3093174"/>
            <a:ext cx="3196031" cy="1798223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SVR (Support Vector Regressor)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Polynomial Regressor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ANN (Artificial Neural Network)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099172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7DE3-1767-48DD-6FE8-050D99286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Comparison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876F03-CA7A-8401-E3C7-9C42E80D5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2513" y="1820487"/>
            <a:ext cx="9799983" cy="4461019"/>
          </a:xfrm>
        </p:spPr>
      </p:pic>
    </p:spTree>
    <p:extLst>
      <p:ext uri="{BB962C8B-B14F-4D97-AF65-F5344CB8AC3E}">
        <p14:creationId xmlns:p14="http://schemas.microsoft.com/office/powerpoint/2010/main" val="1428523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9CAC6-15FC-FC8F-C8DA-5E0621F3A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8CBFF-E919-0CC0-62D6-40D06B12E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1" y="2133969"/>
            <a:ext cx="10058399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XGBoost</a:t>
            </a:r>
            <a:r>
              <a:rPr lang="en-US" dirty="0"/>
              <a:t> </a:t>
            </a:r>
            <a:r>
              <a:rPr lang="en-US" dirty="0">
                <a:latin typeface="+mj-lt"/>
              </a:rPr>
              <a:t>outperformed other models, showing just a 10% difference between training accuracy (66%) and testing accuracy (56%), while other models exhibited either high variance or high bias</a:t>
            </a:r>
            <a:r>
              <a:rPr lang="en-US" sz="1700" dirty="0">
                <a:latin typeface="+mj-lt"/>
              </a:rPr>
              <a:t>.</a:t>
            </a:r>
          </a:p>
          <a:p>
            <a:pPr marL="0" indent="0">
              <a:buNone/>
            </a:pPr>
            <a:endParaRPr lang="en-US" sz="17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Model generalized well, with </a:t>
            </a:r>
            <a:r>
              <a:rPr lang="en-US" b="1" dirty="0">
                <a:solidFill>
                  <a:schemeClr val="accent1"/>
                </a:solidFill>
                <a:latin typeface="+mj-lt"/>
              </a:rPr>
              <a:t>good train-test accuracy</a:t>
            </a:r>
            <a:r>
              <a:rPr lang="en-US" dirty="0">
                <a:latin typeface="+mj-lt"/>
              </a:rPr>
              <a:t>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The </a:t>
            </a:r>
            <a:r>
              <a:rPr lang="en-US" b="1" dirty="0">
                <a:solidFill>
                  <a:schemeClr val="accent1"/>
                </a:solidFill>
                <a:latin typeface="+mj-lt"/>
              </a:rPr>
              <a:t>ANN model </a:t>
            </a:r>
            <a:r>
              <a:rPr lang="en-US" dirty="0">
                <a:latin typeface="+mj-lt"/>
              </a:rPr>
              <a:t>achieved similar training and testing accuracies (58.35% and 58.78% respectively)</a:t>
            </a:r>
          </a:p>
        </p:txBody>
      </p:sp>
    </p:spTree>
    <p:extLst>
      <p:ext uri="{BB962C8B-B14F-4D97-AF65-F5344CB8AC3E}">
        <p14:creationId xmlns:p14="http://schemas.microsoft.com/office/powerpoint/2010/main" val="2052784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24945-3F91-CB38-DD2A-A7BB0CBF5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935951"/>
            <a:ext cx="8825658" cy="2677648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D1965C-251F-B337-31D4-2B4C4FDD07E3}"/>
              </a:ext>
            </a:extLst>
          </p:cNvPr>
          <p:cNvSpPr txBox="1"/>
          <p:nvPr/>
        </p:nvSpPr>
        <p:spPr>
          <a:xfrm>
            <a:off x="1154955" y="4572000"/>
            <a:ext cx="999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Would love to answer any questions you might have?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9384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Banking Business (Call Center)</Template>
  <TotalTime>226</TotalTime>
  <Words>502</Words>
  <Application>Microsoft Office PowerPoint</Application>
  <PresentationFormat>Widescreen</PresentationFormat>
  <Paragraphs>62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Retrospect</vt:lpstr>
      <vt:lpstr>power consumption  power consumption  Power Consumption</vt:lpstr>
      <vt:lpstr>Problem Statement</vt:lpstr>
      <vt:lpstr>Data Overview</vt:lpstr>
      <vt:lpstr>Data Preprocessing</vt:lpstr>
      <vt:lpstr>Categorical Features</vt:lpstr>
      <vt:lpstr>Numerical Features</vt:lpstr>
      <vt:lpstr>Target Variable analysis</vt:lpstr>
      <vt:lpstr>Model Selection</vt:lpstr>
      <vt:lpstr>Model Performance Comparison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Rachana Padaya</dc:creator>
  <cp:lastModifiedBy>Rachana Padaya</cp:lastModifiedBy>
  <cp:revision>2</cp:revision>
  <dcterms:created xsi:type="dcterms:W3CDTF">2025-07-10T13:49:59Z</dcterms:created>
  <dcterms:modified xsi:type="dcterms:W3CDTF">2025-07-11T12:09:27Z</dcterms:modified>
</cp:coreProperties>
</file>